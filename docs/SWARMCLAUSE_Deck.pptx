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74320"/>
            <a:ext cx="36576" cy="36576"/>
          </a:xfrm>
          <a:prstGeom prst="ellipse">
            <a:avLst/>
          </a:prstGeom>
          <a:solidFill>
            <a:srgbClr val="0D7A61">
              <a:alpha val="40000"/>
            </a:srgbClr>
          </a:solidFill>
          <a:ln w="12700">
            <a:solidFill>
              <a:srgbClr val="0D7A61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274320"/>
            <a:ext cx="36576" cy="36576"/>
          </a:xfrm>
          <a:prstGeom prst="ellipse">
            <a:avLst/>
          </a:prstGeom>
          <a:solidFill>
            <a:srgbClr val="0D7A61">
              <a:alpha val="40000"/>
            </a:srgbClr>
          </a:solidFill>
          <a:ln w="12700">
            <a:solidFill>
              <a:srgbClr val="0D7A61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274320"/>
            <a:ext cx="36576" cy="36576"/>
          </a:xfrm>
          <a:prstGeom prst="ellipse">
            <a:avLst/>
          </a:prstGeom>
          <a:solidFill>
            <a:srgbClr val="0D7A61">
              <a:alpha val="40000"/>
            </a:srgbClr>
          </a:solidFill>
          <a:ln w="12700">
            <a:solidFill>
              <a:srgbClr val="0D7A61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0" y="274320"/>
            <a:ext cx="36576" cy="36576"/>
          </a:xfrm>
          <a:prstGeom prst="ellipse">
            <a:avLst/>
          </a:prstGeom>
          <a:solidFill>
            <a:srgbClr val="0D7A61">
              <a:alpha val="40000"/>
            </a:srgbClr>
          </a:solidFill>
          <a:ln w="12700">
            <a:solidFill>
              <a:srgbClr val="0D7A61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0" y="274320"/>
            <a:ext cx="36576" cy="36576"/>
          </a:xfrm>
          <a:prstGeom prst="ellipse">
            <a:avLst/>
          </a:prstGeom>
          <a:solidFill>
            <a:srgbClr val="0D7A61">
              <a:alpha val="40000"/>
            </a:srgbClr>
          </a:solidFill>
          <a:ln w="12700">
            <a:solidFill>
              <a:srgbClr val="0D7A61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0" y="274320"/>
            <a:ext cx="36576" cy="36576"/>
          </a:xfrm>
          <a:prstGeom prst="ellipse">
            <a:avLst/>
          </a:prstGeom>
          <a:solidFill>
            <a:srgbClr val="0D7A61">
              <a:alpha val="40000"/>
            </a:srgbClr>
          </a:solidFill>
          <a:ln w="12700">
            <a:solidFill>
              <a:srgbClr val="0D7A61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0" y="274320"/>
            <a:ext cx="36576" cy="36576"/>
          </a:xfrm>
          <a:prstGeom prst="ellipse">
            <a:avLst/>
          </a:prstGeom>
          <a:solidFill>
            <a:srgbClr val="0D7A61">
              <a:alpha val="40000"/>
            </a:srgbClr>
          </a:solidFill>
          <a:ln w="12700">
            <a:solidFill>
              <a:srgbClr val="0D7A61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274320"/>
            <a:ext cx="36576" cy="36576"/>
          </a:xfrm>
          <a:prstGeom prst="ellipse">
            <a:avLst/>
          </a:prstGeom>
          <a:solidFill>
            <a:srgbClr val="0D7A61">
              <a:alpha val="40000"/>
            </a:srgbClr>
          </a:solidFill>
          <a:ln w="12700">
            <a:solidFill>
              <a:srgbClr val="0D7A61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097280"/>
            <a:ext cx="36576" cy="36576"/>
          </a:xfrm>
          <a:prstGeom prst="ellipse">
            <a:avLst/>
          </a:prstGeom>
          <a:solidFill>
            <a:srgbClr val="0D7A61">
              <a:alpha val="40000"/>
            </a:srgbClr>
          </a:solidFill>
          <a:ln w="12700">
            <a:solidFill>
              <a:srgbClr val="0D7A61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0" y="1097280"/>
            <a:ext cx="36576" cy="36576"/>
          </a:xfrm>
          <a:prstGeom prst="ellipse">
            <a:avLst/>
          </a:prstGeom>
          <a:solidFill>
            <a:srgbClr val="0D7A61">
              <a:alpha val="40000"/>
            </a:srgbClr>
          </a:solidFill>
          <a:ln w="12700">
            <a:solidFill>
              <a:srgbClr val="0D7A61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097280"/>
            <a:ext cx="36576" cy="36576"/>
          </a:xfrm>
          <a:prstGeom prst="ellipse">
            <a:avLst/>
          </a:prstGeom>
          <a:solidFill>
            <a:srgbClr val="0D7A61">
              <a:alpha val="40000"/>
            </a:srgbClr>
          </a:solidFill>
          <a:ln w="12700">
            <a:solidFill>
              <a:srgbClr val="0D7A61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0" y="1097280"/>
            <a:ext cx="36576" cy="36576"/>
          </a:xfrm>
          <a:prstGeom prst="ellipse">
            <a:avLst/>
          </a:prstGeom>
          <a:solidFill>
            <a:srgbClr val="0D7A61">
              <a:alpha val="40000"/>
            </a:srgbClr>
          </a:solidFill>
          <a:ln w="12700">
            <a:solidFill>
              <a:srgbClr val="0D7A61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0" y="1097280"/>
            <a:ext cx="36576" cy="36576"/>
          </a:xfrm>
          <a:prstGeom prst="ellipse">
            <a:avLst/>
          </a:prstGeom>
          <a:solidFill>
            <a:srgbClr val="0D7A61">
              <a:alpha val="40000"/>
            </a:srgbClr>
          </a:solidFill>
          <a:ln w="12700">
            <a:solidFill>
              <a:srgbClr val="0D7A61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097280"/>
            <a:ext cx="36576" cy="36576"/>
          </a:xfrm>
          <a:prstGeom prst="ellipse">
            <a:avLst/>
          </a:prstGeom>
          <a:solidFill>
            <a:srgbClr val="0D7A61">
              <a:alpha val="40000"/>
            </a:srgbClr>
          </a:solidFill>
          <a:ln w="12700">
            <a:solidFill>
              <a:srgbClr val="0D7A61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0" y="1097280"/>
            <a:ext cx="36576" cy="36576"/>
          </a:xfrm>
          <a:prstGeom prst="ellipse">
            <a:avLst/>
          </a:prstGeom>
          <a:solidFill>
            <a:srgbClr val="0D7A61">
              <a:alpha val="40000"/>
            </a:srgbClr>
          </a:solidFill>
          <a:ln w="12700">
            <a:solidFill>
              <a:srgbClr val="0D7A61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1097280"/>
            <a:ext cx="36576" cy="36576"/>
          </a:xfrm>
          <a:prstGeom prst="ellipse">
            <a:avLst/>
          </a:prstGeom>
          <a:solidFill>
            <a:srgbClr val="0D7A61">
              <a:alpha val="40000"/>
            </a:srgbClr>
          </a:solidFill>
          <a:ln w="12700">
            <a:solidFill>
              <a:srgbClr val="0D7A61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1920240"/>
            <a:ext cx="36576" cy="36576"/>
          </a:xfrm>
          <a:prstGeom prst="ellipse">
            <a:avLst/>
          </a:prstGeom>
          <a:solidFill>
            <a:srgbClr val="0D7A61">
              <a:alpha val="40000"/>
            </a:srgbClr>
          </a:solidFill>
          <a:ln w="12700">
            <a:solidFill>
              <a:srgbClr val="0D7A61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0" y="1920240"/>
            <a:ext cx="36576" cy="36576"/>
          </a:xfrm>
          <a:prstGeom prst="ellipse">
            <a:avLst/>
          </a:prstGeom>
          <a:solidFill>
            <a:srgbClr val="0D7A61">
              <a:alpha val="40000"/>
            </a:srgbClr>
          </a:solidFill>
          <a:ln w="12700">
            <a:solidFill>
              <a:srgbClr val="0D7A61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0" y="1920240"/>
            <a:ext cx="36576" cy="36576"/>
          </a:xfrm>
          <a:prstGeom prst="ellipse">
            <a:avLst/>
          </a:prstGeom>
          <a:solidFill>
            <a:srgbClr val="0D7A61">
              <a:alpha val="40000"/>
            </a:srgbClr>
          </a:solidFill>
          <a:ln w="12700">
            <a:solidFill>
              <a:srgbClr val="0D7A61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0" y="1920240"/>
            <a:ext cx="36576" cy="36576"/>
          </a:xfrm>
          <a:prstGeom prst="ellipse">
            <a:avLst/>
          </a:prstGeom>
          <a:solidFill>
            <a:srgbClr val="0D7A61">
              <a:alpha val="40000"/>
            </a:srgbClr>
          </a:solidFill>
          <a:ln w="12700">
            <a:solidFill>
              <a:srgbClr val="0D7A61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37760" y="1920240"/>
            <a:ext cx="36576" cy="36576"/>
          </a:xfrm>
          <a:prstGeom prst="ellipse">
            <a:avLst/>
          </a:prstGeom>
          <a:solidFill>
            <a:srgbClr val="0D7A61">
              <a:alpha val="40000"/>
            </a:srgbClr>
          </a:solidFill>
          <a:ln w="12700">
            <a:solidFill>
              <a:srgbClr val="0D7A61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1920240"/>
            <a:ext cx="36576" cy="36576"/>
          </a:xfrm>
          <a:prstGeom prst="ellipse">
            <a:avLst/>
          </a:prstGeom>
          <a:solidFill>
            <a:srgbClr val="0D7A61">
              <a:alpha val="40000"/>
            </a:srgbClr>
          </a:solidFill>
          <a:ln w="12700">
            <a:solidFill>
              <a:srgbClr val="0D7A61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0" y="1920240"/>
            <a:ext cx="36576" cy="36576"/>
          </a:xfrm>
          <a:prstGeom prst="ellipse">
            <a:avLst/>
          </a:prstGeom>
          <a:solidFill>
            <a:srgbClr val="0D7A61">
              <a:alpha val="40000"/>
            </a:srgbClr>
          </a:solidFill>
          <a:ln w="12700">
            <a:solidFill>
              <a:srgbClr val="0D7A61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0" y="1920240"/>
            <a:ext cx="36576" cy="36576"/>
          </a:xfrm>
          <a:prstGeom prst="ellipse">
            <a:avLst/>
          </a:prstGeom>
          <a:solidFill>
            <a:srgbClr val="0D7A61">
              <a:alpha val="40000"/>
            </a:srgbClr>
          </a:solidFill>
          <a:ln w="12700">
            <a:solidFill>
              <a:srgbClr val="0D7A61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2743200"/>
            <a:ext cx="36576" cy="36576"/>
          </a:xfrm>
          <a:prstGeom prst="ellipse">
            <a:avLst/>
          </a:prstGeom>
          <a:solidFill>
            <a:srgbClr val="0D7A61">
              <a:alpha val="40000"/>
            </a:srgbClr>
          </a:solidFill>
          <a:ln w="12700">
            <a:solidFill>
              <a:srgbClr val="0D7A61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45920" y="2743200"/>
            <a:ext cx="36576" cy="36576"/>
          </a:xfrm>
          <a:prstGeom prst="ellipse">
            <a:avLst/>
          </a:prstGeom>
          <a:solidFill>
            <a:srgbClr val="0D7A61">
              <a:alpha val="40000"/>
            </a:srgbClr>
          </a:solidFill>
          <a:ln w="12700">
            <a:solidFill>
              <a:srgbClr val="0D7A61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0" y="2743200"/>
            <a:ext cx="36576" cy="36576"/>
          </a:xfrm>
          <a:prstGeom prst="ellipse">
            <a:avLst/>
          </a:prstGeom>
          <a:solidFill>
            <a:srgbClr val="0D7A61">
              <a:alpha val="40000"/>
            </a:srgbClr>
          </a:solidFill>
          <a:ln w="12700">
            <a:solidFill>
              <a:srgbClr val="0D7A61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0" y="2743200"/>
            <a:ext cx="36576" cy="36576"/>
          </a:xfrm>
          <a:prstGeom prst="ellipse">
            <a:avLst/>
          </a:prstGeom>
          <a:solidFill>
            <a:srgbClr val="0D7A61">
              <a:alpha val="40000"/>
            </a:srgbClr>
          </a:solidFill>
          <a:ln w="12700">
            <a:solidFill>
              <a:srgbClr val="0D7A61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37760" y="2743200"/>
            <a:ext cx="36576" cy="36576"/>
          </a:xfrm>
          <a:prstGeom prst="ellipse">
            <a:avLst/>
          </a:prstGeom>
          <a:solidFill>
            <a:srgbClr val="0D7A61">
              <a:alpha val="40000"/>
            </a:srgbClr>
          </a:solidFill>
          <a:ln w="12700">
            <a:solidFill>
              <a:srgbClr val="0D7A61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35040" y="2743200"/>
            <a:ext cx="36576" cy="36576"/>
          </a:xfrm>
          <a:prstGeom prst="ellipse">
            <a:avLst/>
          </a:prstGeom>
          <a:solidFill>
            <a:srgbClr val="0D7A61">
              <a:alpha val="40000"/>
            </a:srgbClr>
          </a:solidFill>
          <a:ln w="12700">
            <a:solidFill>
              <a:srgbClr val="0D7A61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32320" y="2743200"/>
            <a:ext cx="36576" cy="36576"/>
          </a:xfrm>
          <a:prstGeom prst="ellipse">
            <a:avLst/>
          </a:prstGeom>
          <a:solidFill>
            <a:srgbClr val="0D7A61">
              <a:alpha val="40000"/>
            </a:srgbClr>
          </a:solidFill>
          <a:ln w="12700">
            <a:solidFill>
              <a:srgbClr val="0D7A61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0" y="2743200"/>
            <a:ext cx="36576" cy="36576"/>
          </a:xfrm>
          <a:prstGeom prst="ellipse">
            <a:avLst/>
          </a:prstGeom>
          <a:solidFill>
            <a:srgbClr val="0D7A61">
              <a:alpha val="40000"/>
            </a:srgbClr>
          </a:solidFill>
          <a:ln w="12700">
            <a:solidFill>
              <a:srgbClr val="0D7A61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3566160"/>
            <a:ext cx="36576" cy="36576"/>
          </a:xfrm>
          <a:prstGeom prst="ellipse">
            <a:avLst/>
          </a:prstGeom>
          <a:solidFill>
            <a:srgbClr val="0D7A61">
              <a:alpha val="40000"/>
            </a:srgbClr>
          </a:solidFill>
          <a:ln w="12700">
            <a:solidFill>
              <a:srgbClr val="0D7A61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645920" y="3566160"/>
            <a:ext cx="36576" cy="36576"/>
          </a:xfrm>
          <a:prstGeom prst="ellipse">
            <a:avLst/>
          </a:prstGeom>
          <a:solidFill>
            <a:srgbClr val="0D7A61">
              <a:alpha val="40000"/>
            </a:srgbClr>
          </a:solidFill>
          <a:ln w="12700">
            <a:solidFill>
              <a:srgbClr val="0D7A61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0" y="3566160"/>
            <a:ext cx="36576" cy="36576"/>
          </a:xfrm>
          <a:prstGeom prst="ellipse">
            <a:avLst/>
          </a:prstGeom>
          <a:solidFill>
            <a:srgbClr val="0D7A61">
              <a:alpha val="40000"/>
            </a:srgbClr>
          </a:solidFill>
          <a:ln w="12700">
            <a:solidFill>
              <a:srgbClr val="0D7A61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40480" y="3566160"/>
            <a:ext cx="36576" cy="36576"/>
          </a:xfrm>
          <a:prstGeom prst="ellipse">
            <a:avLst/>
          </a:prstGeom>
          <a:solidFill>
            <a:srgbClr val="0D7A61">
              <a:alpha val="40000"/>
            </a:srgbClr>
          </a:solidFill>
          <a:ln w="12700">
            <a:solidFill>
              <a:srgbClr val="0D7A61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937760" y="3566160"/>
            <a:ext cx="36576" cy="36576"/>
          </a:xfrm>
          <a:prstGeom prst="ellipse">
            <a:avLst/>
          </a:prstGeom>
          <a:solidFill>
            <a:srgbClr val="0D7A61">
              <a:alpha val="40000"/>
            </a:srgbClr>
          </a:solidFill>
          <a:ln w="12700">
            <a:solidFill>
              <a:srgbClr val="0D7A61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35040" y="3566160"/>
            <a:ext cx="36576" cy="36576"/>
          </a:xfrm>
          <a:prstGeom prst="ellipse">
            <a:avLst/>
          </a:prstGeom>
          <a:solidFill>
            <a:srgbClr val="0D7A61">
              <a:alpha val="40000"/>
            </a:srgbClr>
          </a:solidFill>
          <a:ln w="12700">
            <a:solidFill>
              <a:srgbClr val="0D7A61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32320" y="3566160"/>
            <a:ext cx="36576" cy="36576"/>
          </a:xfrm>
          <a:prstGeom prst="ellipse">
            <a:avLst/>
          </a:prstGeom>
          <a:solidFill>
            <a:srgbClr val="0D7A61">
              <a:alpha val="40000"/>
            </a:srgbClr>
          </a:solidFill>
          <a:ln w="12700">
            <a:solidFill>
              <a:srgbClr val="0D7A61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29600" y="3566160"/>
            <a:ext cx="36576" cy="36576"/>
          </a:xfrm>
          <a:prstGeom prst="ellipse">
            <a:avLst/>
          </a:prstGeom>
          <a:solidFill>
            <a:srgbClr val="0D7A61">
              <a:alpha val="40000"/>
            </a:srgbClr>
          </a:solidFill>
          <a:ln w="12700">
            <a:solidFill>
              <a:srgbClr val="0D7A61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8640" y="4389120"/>
            <a:ext cx="36576" cy="36576"/>
          </a:xfrm>
          <a:prstGeom prst="ellipse">
            <a:avLst/>
          </a:prstGeom>
          <a:solidFill>
            <a:srgbClr val="0D7A61">
              <a:alpha val="40000"/>
            </a:srgbClr>
          </a:solidFill>
          <a:ln w="12700">
            <a:solidFill>
              <a:srgbClr val="0D7A61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645920" y="4389120"/>
            <a:ext cx="36576" cy="36576"/>
          </a:xfrm>
          <a:prstGeom prst="ellipse">
            <a:avLst/>
          </a:prstGeom>
          <a:solidFill>
            <a:srgbClr val="0D7A61">
              <a:alpha val="40000"/>
            </a:srgbClr>
          </a:solidFill>
          <a:ln w="12700">
            <a:solidFill>
              <a:srgbClr val="0D7A61">
                <a:alpha val="4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43200" y="4389120"/>
            <a:ext cx="36576" cy="36576"/>
          </a:xfrm>
          <a:prstGeom prst="ellipse">
            <a:avLst/>
          </a:prstGeom>
          <a:solidFill>
            <a:srgbClr val="0D7A61">
              <a:alpha val="40000"/>
            </a:srgbClr>
          </a:solidFill>
          <a:ln w="12700">
            <a:solidFill>
              <a:srgbClr val="0D7A61">
                <a:alpha val="4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840480" y="4389120"/>
            <a:ext cx="36576" cy="36576"/>
          </a:xfrm>
          <a:prstGeom prst="ellipse">
            <a:avLst/>
          </a:prstGeom>
          <a:solidFill>
            <a:srgbClr val="0D7A61">
              <a:alpha val="40000"/>
            </a:srgbClr>
          </a:solidFill>
          <a:ln w="12700">
            <a:solidFill>
              <a:srgbClr val="0D7A61">
                <a:alpha val="4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937760" y="4389120"/>
            <a:ext cx="36576" cy="36576"/>
          </a:xfrm>
          <a:prstGeom prst="ellipse">
            <a:avLst/>
          </a:prstGeom>
          <a:solidFill>
            <a:srgbClr val="0D7A61">
              <a:alpha val="40000"/>
            </a:srgbClr>
          </a:solidFill>
          <a:ln w="12700">
            <a:solidFill>
              <a:srgbClr val="0D7A61">
                <a:alpha val="4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035040" y="4389120"/>
            <a:ext cx="36576" cy="36576"/>
          </a:xfrm>
          <a:prstGeom prst="ellipse">
            <a:avLst/>
          </a:prstGeom>
          <a:solidFill>
            <a:srgbClr val="0D7A61">
              <a:alpha val="40000"/>
            </a:srgbClr>
          </a:solidFill>
          <a:ln w="12700">
            <a:solidFill>
              <a:srgbClr val="0D7A61">
                <a:alpha val="4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132320" y="4389120"/>
            <a:ext cx="36576" cy="36576"/>
          </a:xfrm>
          <a:prstGeom prst="ellipse">
            <a:avLst/>
          </a:prstGeom>
          <a:solidFill>
            <a:srgbClr val="0D7A61">
              <a:alpha val="40000"/>
            </a:srgbClr>
          </a:solidFill>
          <a:ln w="12700">
            <a:solidFill>
              <a:srgbClr val="0D7A61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229600" y="4389120"/>
            <a:ext cx="36576" cy="36576"/>
          </a:xfrm>
          <a:prstGeom prst="ellipse">
            <a:avLst/>
          </a:prstGeom>
          <a:solidFill>
            <a:srgbClr val="0D7A61">
              <a:alpha val="40000"/>
            </a:srgbClr>
          </a:solidFill>
          <a:ln w="12700">
            <a:solidFill>
              <a:srgbClr val="0D7A61">
                <a:alpha val="4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91440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</a:t>
            </a:r>
            <a:endParaRPr lang="en-US" sz="8000" dirty="0"/>
          </a:p>
        </p:txBody>
      </p:sp>
      <p:sp>
        <p:nvSpPr>
          <p:cNvPr id="52" name="Text 50"/>
          <p:cNvSpPr/>
          <p:nvPr/>
        </p:nvSpPr>
        <p:spPr>
          <a:xfrm>
            <a:off x="365760" y="196596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spc="8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</a:t>
            </a:r>
            <a:endParaRPr lang="en-US" sz="8000" dirty="0"/>
          </a:p>
        </p:txBody>
      </p:sp>
      <p:sp>
        <p:nvSpPr>
          <p:cNvPr id="53" name="Text 51"/>
          <p:cNvSpPr/>
          <p:nvPr/>
        </p:nvSpPr>
        <p:spPr>
          <a:xfrm>
            <a:off x="365760" y="32461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Contracts Negotiated by AI Agents, Settled by Hedera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47594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Hedera · Supabase · Groq · UCP · ERC-8004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858000" y="1005840"/>
            <a:ext cx="1920240" cy="384048"/>
          </a:xfrm>
          <a:prstGeom prst="roundRect">
            <a:avLst>
              <a:gd name="adj" fmla="val 28571"/>
            </a:avLst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58000" y="10241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AGENT-NATIVE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426"/>
          </a:solidFill>
          <a:ln w="12700">
            <a:solidFill>
              <a:srgbClr val="0B14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are becoming economic actors.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have no way to transact safely.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828800"/>
            <a:ext cx="1609344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E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828800"/>
            <a:ext cx="54864" cy="25603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993392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4048" y="2578608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Discovery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2926080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 way to find counterparties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993392" y="1828800"/>
            <a:ext cx="1609344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E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993392" y="1828800"/>
            <a:ext cx="54864" cy="25603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993392"/>
            <a:ext cx="475488" cy="4754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103120" y="2578608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Protocol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084832" y="2926080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commerce has no enforceable standard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712464" y="1828800"/>
            <a:ext cx="1609344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E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712464" y="1828800"/>
            <a:ext cx="54864" cy="25603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2" y="1993392"/>
            <a:ext cx="475488" cy="4754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822192" y="2578608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Trust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3803904" y="2926080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on-chain reputation layer for agents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5431536" y="1828800"/>
            <a:ext cx="1609344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E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431536" y="1828800"/>
            <a:ext cx="54864" cy="25603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464" y="1993392"/>
            <a:ext cx="475488" cy="4754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41264" y="2578608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Enforcement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522976" y="2926080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Agreements can't be autonomously settled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7150608" y="1828800"/>
            <a:ext cx="1609344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E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150608" y="1828800"/>
            <a:ext cx="54864" cy="25603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7536" y="1993392"/>
            <a:ext cx="475488" cy="47548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260336" y="2578608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7242048" y="2926080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immutable record of who agreed to what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SWARMCLAUSE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74320" y="11704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autonomous contract marketplace for OpenClaw agents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2743200" cy="24688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A88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691640"/>
            <a:ext cx="2743200" cy="731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745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🔍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65760" y="251460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11480" y="29718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find counterparties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OpenClaw network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18688" y="1691640"/>
            <a:ext cx="2743200" cy="24688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A88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8688" y="1691640"/>
            <a:ext cx="2743200" cy="731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18745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🤝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310128" y="251460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355848" y="29718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UCP-standardised multi-turn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negotiation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63056" y="1691640"/>
            <a:ext cx="2743200" cy="24688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A88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63056" y="1691640"/>
            <a:ext cx="2743200" cy="731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54496" y="18745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⚡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254496" y="251460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00216" y="29718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Hedera enforces escrow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autonomous payout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" y="4279392"/>
            <a:ext cx="8595360" cy="530352"/>
          </a:xfrm>
          <a:prstGeom prst="rect">
            <a:avLst/>
          </a:prstGeom>
          <a:solidFill>
            <a:srgbClr val="00A884">
              <a:alpha val="85000"/>
            </a:srgbClr>
          </a:solidFill>
          <a:ln w="9525">
            <a:solidFill>
              <a:srgbClr val="00D4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3159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effect: every new agent adds counterparties, deepens the reputation graph, and increases deal flow for all.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426"/>
          </a:solidFill>
          <a:ln w="12700">
            <a:solidFill>
              <a:srgbClr val="0B14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autonomous agent flow — zero human involvement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76072" y="1280160"/>
            <a:ext cx="822960" cy="82296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298448"/>
            <a:ext cx="822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417320" y="1691640"/>
            <a:ext cx="310896" cy="0"/>
          </a:xfrm>
          <a:prstGeom prst="line">
            <a:avLst/>
          </a:prstGeom>
          <a:noFill/>
          <a:ln w="19050">
            <a:solidFill>
              <a:srgbClr val="8BA7BF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47472" y="221284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" y="2560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registers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OpenClaw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039112" y="1280160"/>
            <a:ext cx="822960" cy="82296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39112" y="1298448"/>
            <a:ext cx="822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880360" y="1691640"/>
            <a:ext cx="310896" cy="0"/>
          </a:xfrm>
          <a:prstGeom prst="line">
            <a:avLst/>
          </a:prstGeom>
          <a:noFill/>
          <a:ln w="19050">
            <a:solidFill>
              <a:srgbClr val="8BA7BF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1810512" y="221284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64792" y="2560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BuyerAgent finds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SellerAgent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502152" y="1280160"/>
            <a:ext cx="822960" cy="8229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02152" y="1298448"/>
            <a:ext cx="822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343400" y="1691640"/>
            <a:ext cx="310896" cy="0"/>
          </a:xfrm>
          <a:prstGeom prst="line">
            <a:avLst/>
          </a:prstGeom>
          <a:noFill/>
          <a:ln w="19050">
            <a:solidFill>
              <a:srgbClr val="8BA7BF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3273552" y="221284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27832" y="2560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UCP multi-turn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via Groq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965192" y="1280160"/>
            <a:ext cx="822960" cy="82296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65192" y="1298448"/>
            <a:ext cx="822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806440" y="1691640"/>
            <a:ext cx="310896" cy="0"/>
          </a:xfrm>
          <a:prstGeom prst="line">
            <a:avLst/>
          </a:prstGeom>
          <a:noFill/>
          <a:ln w="19050">
            <a:solidFill>
              <a:srgbClr val="8BA7BF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4736592" y="221284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90872" y="2560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signing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28232" y="1280160"/>
            <a:ext cx="822960" cy="822960"/>
          </a:xfrm>
          <a:prstGeom prst="ellipse">
            <a:avLst/>
          </a:prstGeom>
          <a:solidFill>
            <a:srgbClr val="155E75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28232" y="1298448"/>
            <a:ext cx="822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269480" y="1691640"/>
            <a:ext cx="310896" cy="0"/>
          </a:xfrm>
          <a:prstGeom prst="line">
            <a:avLst/>
          </a:prstGeom>
          <a:noFill/>
          <a:ln w="19050">
            <a:solidFill>
              <a:srgbClr val="8BA7BF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6199632" y="221284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53912" y="2560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on Hedera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891272" y="1280160"/>
            <a:ext cx="822960" cy="822960"/>
          </a:xfrm>
          <a:prstGeom prst="ellipse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91272" y="1298448"/>
            <a:ext cx="822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662672" y="221284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616952" y="2560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HTS escrow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out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3291840"/>
            <a:ext cx="4133088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E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" y="3291840"/>
            <a:ext cx="54864" cy="13716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36499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Transcript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" y="37033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UCP message logged to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Hedera HCS — fair-ordered,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tamper-proof, verifiable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800600" y="3291840"/>
            <a:ext cx="4133088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E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00600" y="3291840"/>
            <a:ext cx="54864" cy="13716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83480" y="336499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ERC-8004 Reputation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983480" y="37033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outcomes update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trust scores on-chain —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accountability forever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Production-ready, fully integrated, no gaps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1115568"/>
            <a:ext cx="4206240" cy="1005840"/>
          </a:xfrm>
          <a:prstGeom prst="rect">
            <a:avLst/>
          </a:prstGeom>
          <a:solidFill>
            <a:srgbClr val="112240"/>
          </a:solidFill>
          <a:ln w="9525">
            <a:solidFill>
              <a:srgbClr val="0D7A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115568"/>
            <a:ext cx="54864" cy="10058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20700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RUNTIME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93192" y="143560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93192" y="173736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Daemon mode, capability registry, channel routing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18304" y="1115568"/>
            <a:ext cx="4206240" cy="1005840"/>
          </a:xfrm>
          <a:prstGeom prst="rect">
            <a:avLst/>
          </a:prstGeom>
          <a:solidFill>
            <a:srgbClr val="112240"/>
          </a:solidFill>
          <a:ln w="9525">
            <a:solidFill>
              <a:srgbClr val="0D7A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18304" y="1115568"/>
            <a:ext cx="54864" cy="10058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55464" y="120700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 PROTOCOL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855464" y="143560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55464" y="173736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PROPOSAL / COUNTER / ACCEPT messages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6032" y="2286000"/>
            <a:ext cx="4206240" cy="1005840"/>
          </a:xfrm>
          <a:prstGeom prst="rect">
            <a:avLst/>
          </a:prstGeom>
          <a:solidFill>
            <a:srgbClr val="112240"/>
          </a:solidFill>
          <a:ln w="9525">
            <a:solidFill>
              <a:srgbClr val="0D7A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" y="2286000"/>
            <a:ext cx="54864" cy="10058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" y="237744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INTELLIGENCE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93192" y="2606040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93192" y="290779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llama3-70b powers negotiation &amp; simulation reasoning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18304" y="2286000"/>
            <a:ext cx="4206240" cy="1005840"/>
          </a:xfrm>
          <a:prstGeom prst="rect">
            <a:avLst/>
          </a:prstGeom>
          <a:solidFill>
            <a:srgbClr val="112240"/>
          </a:solidFill>
          <a:ln w="9525">
            <a:solidFill>
              <a:srgbClr val="0D7A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18304" y="2286000"/>
            <a:ext cx="54864" cy="10058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55464" y="237744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LAYER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55464" y="2606040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Hedera EVM + HTS + HCS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855464" y="290779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contracts, token escrow, transcript ordering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6032" y="3456432"/>
            <a:ext cx="4206240" cy="1005840"/>
          </a:xfrm>
          <a:prstGeom prst="rect">
            <a:avLst/>
          </a:prstGeom>
          <a:solidFill>
            <a:srgbClr val="112240"/>
          </a:solidFill>
          <a:ln w="9525">
            <a:solidFill>
              <a:srgbClr val="0D7A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" y="3456432"/>
            <a:ext cx="54864" cy="10058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192" y="3547872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IDENTITY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93192" y="377647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ERC-8004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93192" y="407822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agent reputation scores, immutable audit log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18304" y="3456432"/>
            <a:ext cx="4206240" cy="1005840"/>
          </a:xfrm>
          <a:prstGeom prst="rect">
            <a:avLst/>
          </a:prstGeom>
          <a:solidFill>
            <a:srgbClr val="112240"/>
          </a:solidFill>
          <a:ln w="9525">
            <a:solidFill>
              <a:srgbClr val="0D7A6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18304" y="3456432"/>
            <a:ext cx="54864" cy="10058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55464" y="3547872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REALTIME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55464" y="377647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855464" y="407822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PostgreSQL + RLS, Realtime WebSockets, Edge Fns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426"/>
          </a:solidFill>
          <a:ln w="12700">
            <a:solidFill>
              <a:srgbClr val="0B14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INTEGRATION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Supabase features — each solving a real SWARMCLAUSE problem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" y="1207008"/>
            <a:ext cx="27432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E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207008"/>
            <a:ext cx="54864" cy="13716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3167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20624" y="18288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(Google OAuth)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20624" y="213969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Observers sign in; session scoped securely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207008"/>
            <a:ext cx="27432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E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207008"/>
            <a:ext cx="54864" cy="13716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3167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64992" y="18288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Level Security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64992" y="213969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operator's fleet is DB-level isolated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44768" y="1207008"/>
            <a:ext cx="27432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E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44768" y="1207008"/>
            <a:ext cx="54864" cy="13716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7648" y="13167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09360" y="18288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Subscriptions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09360" y="213969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turns stream live — zero polling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2779776"/>
            <a:ext cx="27432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E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2779776"/>
            <a:ext cx="54864" cy="13716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28895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20624" y="340156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REST APIs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20624" y="371246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on offers &amp; transcripts, no backend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2779776"/>
            <a:ext cx="27432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E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779776"/>
            <a:ext cx="54864" cy="13716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28895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364992" y="340156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Triggers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364992" y="371246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Auto-timestamps + validation on every insert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44768" y="2779776"/>
            <a:ext cx="27432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E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44768" y="2779776"/>
            <a:ext cx="54864" cy="13716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27648" y="28895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309360" y="340156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Functions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309360" y="371246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notifications fire on contract close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HEDERA INTEGRATION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47548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Hedera services. All mission-critical.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1097280"/>
            <a:ext cx="2743200" cy="32918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188720"/>
            <a:ext cx="658368" cy="34747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18872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627632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Service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3192" y="20848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UCP transcript fair-ordered + timestamped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93192" y="250545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ERC-8004 reputation event log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93192" y="2926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Verifiable by anyone — no trust required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" y="3886200"/>
            <a:ext cx="2560320" cy="384048"/>
          </a:xfrm>
          <a:prstGeom prst="rect">
            <a:avLst/>
          </a:prstGeom>
          <a:solidFill>
            <a:srgbClr val="0D7A61">
              <a:alpha val="70000"/>
            </a:srgbClr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" y="391363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8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Hedera becomes the arbiter of ordering &amp; fairness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0" y="1097280"/>
            <a:ext cx="2743200" cy="32918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1188720"/>
            <a:ext cx="658368" cy="34747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18872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10128" y="1627632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 (EVM)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37560" y="20848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depositEscrow()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37560" y="250545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acceptTerms()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2926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confirmDelivery()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37560" y="334670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slashPenalty() + releaseEscrow()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91840" y="3886200"/>
            <a:ext cx="2560320" cy="384048"/>
          </a:xfrm>
          <a:prstGeom prst="rect">
            <a:avLst/>
          </a:prstGeom>
          <a:solidFill>
            <a:srgbClr val="0D7A61">
              <a:alpha val="70000"/>
            </a:srgbClr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391363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8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enforcement — no human approval needed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44768" y="1097280"/>
            <a:ext cx="2743200" cy="32918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36208" y="1188720"/>
            <a:ext cx="658368" cy="34747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118872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54496" y="1627632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Service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81928" y="20848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Buyer deposits token escrow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81928" y="250545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Smart contract holds funds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81928" y="2926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On completion → seller paid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81928" y="334670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On breach → penalty applied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36208" y="3886200"/>
            <a:ext cx="2560320" cy="384048"/>
          </a:xfrm>
          <a:prstGeom prst="rect">
            <a:avLst/>
          </a:prstGeom>
          <a:solidFill>
            <a:srgbClr val="0D7A61">
              <a:alpha val="70000"/>
            </a:srgbClr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81928" y="391363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8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settlement — not just a message, an actual transfer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426"/>
          </a:solidFill>
          <a:ln w="12700">
            <a:solidFill>
              <a:srgbClr val="0B14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steps. Zero human triggers. Judges see everything live.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" y="1261872"/>
            <a:ext cx="384048" cy="38404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2527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signs in with Google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49047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OAuth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18304" y="1261872"/>
            <a:ext cx="384048" cy="38404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18304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193792" y="12527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BuyerAgent boots on OpenClaw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93792" y="149047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manifest published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" y="1920240"/>
            <a:ext cx="384048" cy="38404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19110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SellerAgent discovered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21488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registry query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18304" y="1920240"/>
            <a:ext cx="384048" cy="38404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193792" y="19110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UCP PROPOSAL: $200, 7 days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93792" y="21488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HCS + Supabase Realtime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56032" y="2578608"/>
            <a:ext cx="384048" cy="38404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" y="25694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UCP COUNTER: $280, 4 days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280720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HCS + Supabase Realtime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18304" y="2578608"/>
            <a:ext cx="384048" cy="38404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18304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93792" y="25694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UCP MEDIATE: $240, 5 days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93792" y="280720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MediatorAgent via Groq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6032" y="3236976"/>
            <a:ext cx="384048" cy="384048"/>
          </a:xfrm>
          <a:prstGeom prst="ellipse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" y="3236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31520" y="32278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SimAgent: risk 0.18, penalty $25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1520" y="346557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simulations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18304" y="3236976"/>
            <a:ext cx="384048" cy="384048"/>
          </a:xfrm>
          <a:prstGeom prst="ellipse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18304" y="3236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193792" y="32278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agents UCP ACCEPT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93792" y="346557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HCS transcript sealed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56032" y="3895344"/>
            <a:ext cx="384048" cy="384048"/>
          </a:xfrm>
          <a:prstGeom prst="ellipse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6032" y="3895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31520" y="38862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 deployed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31520" y="41239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Hedera EVM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18304" y="3895344"/>
            <a:ext cx="384048" cy="384048"/>
          </a:xfrm>
          <a:prstGeom prst="ellipse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18304" y="3895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193792" y="38862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HTS escrow locked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193792" y="41239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→ Contract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56032" y="4553712"/>
            <a:ext cx="384048" cy="384048"/>
          </a:xfrm>
          <a:prstGeom prst="ellipse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6032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31520" y="45445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executes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31520" y="478231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→ Seller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18304" y="4553712"/>
            <a:ext cx="384048" cy="384048"/>
          </a:xfrm>
          <a:prstGeom prst="ellipse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18304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193792" y="45445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ERC-8004 scores updated + Edge Fn fires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193792" y="478231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HCS + Webhook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BOUNTY SCORECARD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requirement. Checked.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1170432"/>
            <a:ext cx="4206240" cy="73152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353312"/>
            <a:ext cx="365760" cy="36576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353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26187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Agent-first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554480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agents are the only operators — humans observe only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18304" y="1170432"/>
            <a:ext cx="4206240" cy="73152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2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9744" y="1353312"/>
            <a:ext cx="365760" cy="36576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9744" y="1353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85232" y="126187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behaviour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85232" y="1554480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negotiate → simulate → settle loop, zero human triggers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6032" y="2048256"/>
            <a:ext cx="4206240" cy="73152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2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2231136"/>
            <a:ext cx="365760" cy="36576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231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2139696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value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2432304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effect: more agents = richer discovery + reputation graph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18304" y="2048256"/>
            <a:ext cx="4206240" cy="73152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2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9744" y="2231136"/>
            <a:ext cx="365760" cy="36576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9744" y="2231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85232" y="2139696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Hedera EVM / HTS / HCS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85232" y="2432304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services used for enforcement, payment, and ordering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6032" y="2926080"/>
            <a:ext cx="4206240" cy="73152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2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" y="3108960"/>
            <a:ext cx="365760" cy="36576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2960" y="301752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UCP bonus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" y="3310128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message uses Universal Commerce Protocol standard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18304" y="2926080"/>
            <a:ext cx="4206240" cy="73152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2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09744" y="3108960"/>
            <a:ext cx="365760" cy="36576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9744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285232" y="301752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ERC-8004 bonus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85232" y="3310128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reputation with Bronze / Silver / Gold trust tiers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56032" y="3803904"/>
            <a:ext cx="4206240" cy="73152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2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7472" y="3986784"/>
            <a:ext cx="365760" cy="36576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22960" y="3895344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shows flow + states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22960" y="4187952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 panel + live UCP feed + reputation scoreboard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18304" y="3803904"/>
            <a:ext cx="4206240" cy="73152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2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09744" y="3986784"/>
            <a:ext cx="365760" cy="36576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9744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285232" y="3895344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repo + demo + video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85232" y="4187952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Deliverable-ready: Vercel + Supabase Cloud + Docker CLI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828925"/>
            <a:ext cx="9144000" cy="2314575"/>
          </a:xfrm>
          <a:prstGeom prst="rect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45720" cy="45720"/>
          </a:xfrm>
          <a:prstGeom prst="ellipse">
            <a:avLst/>
          </a:prstGeom>
          <a:solidFill>
            <a:srgbClr val="0D7A61">
              <a:alpha val="50000"/>
            </a:srgbClr>
          </a:solidFill>
          <a:ln w="12700">
            <a:solidFill>
              <a:srgbClr val="0D7A61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" y="274320"/>
            <a:ext cx="45720" cy="45720"/>
          </a:xfrm>
          <a:prstGeom prst="ellipse">
            <a:avLst/>
          </a:prstGeom>
          <a:solidFill>
            <a:srgbClr val="0D7A61">
              <a:alpha val="50000"/>
            </a:srgbClr>
          </a:solidFill>
          <a:ln w="12700">
            <a:solidFill>
              <a:srgbClr val="0D7A61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73936" y="274320"/>
            <a:ext cx="45720" cy="45720"/>
          </a:xfrm>
          <a:prstGeom prst="ellipse">
            <a:avLst/>
          </a:prstGeom>
          <a:solidFill>
            <a:srgbClr val="0D7A61">
              <a:alpha val="50000"/>
            </a:srgbClr>
          </a:solidFill>
          <a:ln w="12700">
            <a:solidFill>
              <a:srgbClr val="0D7A61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23744" y="274320"/>
            <a:ext cx="45720" cy="45720"/>
          </a:xfrm>
          <a:prstGeom prst="ellipse">
            <a:avLst/>
          </a:prstGeom>
          <a:solidFill>
            <a:srgbClr val="0D7A61">
              <a:alpha val="50000"/>
            </a:srgbClr>
          </a:solidFill>
          <a:ln w="12700">
            <a:solidFill>
              <a:srgbClr val="0D7A61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73552" y="274320"/>
            <a:ext cx="45720" cy="45720"/>
          </a:xfrm>
          <a:prstGeom prst="ellipse">
            <a:avLst/>
          </a:prstGeom>
          <a:solidFill>
            <a:srgbClr val="0D7A61">
              <a:alpha val="50000"/>
            </a:srgbClr>
          </a:solidFill>
          <a:ln w="12700">
            <a:solidFill>
              <a:srgbClr val="0D7A61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23360" y="274320"/>
            <a:ext cx="45720" cy="45720"/>
          </a:xfrm>
          <a:prstGeom prst="ellipse">
            <a:avLst/>
          </a:prstGeom>
          <a:solidFill>
            <a:srgbClr val="0D7A61">
              <a:alpha val="50000"/>
            </a:srgbClr>
          </a:solidFill>
          <a:ln w="12700">
            <a:solidFill>
              <a:srgbClr val="0D7A61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73168" y="274320"/>
            <a:ext cx="45720" cy="45720"/>
          </a:xfrm>
          <a:prstGeom prst="ellipse">
            <a:avLst/>
          </a:prstGeom>
          <a:solidFill>
            <a:srgbClr val="0D7A61">
              <a:alpha val="50000"/>
            </a:srgbClr>
          </a:solidFill>
          <a:ln w="12700">
            <a:solidFill>
              <a:srgbClr val="0D7A61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22976" y="274320"/>
            <a:ext cx="45720" cy="45720"/>
          </a:xfrm>
          <a:prstGeom prst="ellipse">
            <a:avLst/>
          </a:prstGeom>
          <a:solidFill>
            <a:srgbClr val="0D7A61">
              <a:alpha val="50000"/>
            </a:srgbClr>
          </a:solidFill>
          <a:ln w="12700">
            <a:solidFill>
              <a:srgbClr val="0D7A61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72784" y="274320"/>
            <a:ext cx="45720" cy="45720"/>
          </a:xfrm>
          <a:prstGeom prst="ellipse">
            <a:avLst/>
          </a:prstGeom>
          <a:solidFill>
            <a:srgbClr val="0D7A61">
              <a:alpha val="50000"/>
            </a:srgbClr>
          </a:solidFill>
          <a:ln w="12700">
            <a:solidFill>
              <a:srgbClr val="0D7A61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22592" y="274320"/>
            <a:ext cx="45720" cy="45720"/>
          </a:xfrm>
          <a:prstGeom prst="ellipse">
            <a:avLst/>
          </a:prstGeom>
          <a:solidFill>
            <a:srgbClr val="0D7A61">
              <a:alpha val="50000"/>
            </a:srgbClr>
          </a:solidFill>
          <a:ln w="12700">
            <a:solidFill>
              <a:srgbClr val="0D7A61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0" y="274320"/>
            <a:ext cx="45720" cy="45720"/>
          </a:xfrm>
          <a:prstGeom prst="ellipse">
            <a:avLst/>
          </a:prstGeom>
          <a:solidFill>
            <a:srgbClr val="0D7A61">
              <a:alpha val="50000"/>
            </a:srgbClr>
          </a:solidFill>
          <a:ln w="12700">
            <a:solidFill>
              <a:srgbClr val="0D7A61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22208" y="274320"/>
            <a:ext cx="45720" cy="45720"/>
          </a:xfrm>
          <a:prstGeom prst="ellipse">
            <a:avLst/>
          </a:prstGeom>
          <a:solidFill>
            <a:srgbClr val="0D7A61">
              <a:alpha val="50000"/>
            </a:srgbClr>
          </a:solidFill>
          <a:ln w="12700">
            <a:solidFill>
              <a:srgbClr val="0D7A61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914400"/>
            <a:ext cx="45720" cy="45720"/>
          </a:xfrm>
          <a:prstGeom prst="ellipse">
            <a:avLst/>
          </a:prstGeom>
          <a:solidFill>
            <a:srgbClr val="0D7A61">
              <a:alpha val="50000"/>
            </a:srgbClr>
          </a:solidFill>
          <a:ln w="12700">
            <a:solidFill>
              <a:srgbClr val="0D7A61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" y="914400"/>
            <a:ext cx="45720" cy="45720"/>
          </a:xfrm>
          <a:prstGeom prst="ellipse">
            <a:avLst/>
          </a:prstGeom>
          <a:solidFill>
            <a:srgbClr val="0D7A61">
              <a:alpha val="50000"/>
            </a:srgbClr>
          </a:solidFill>
          <a:ln w="12700">
            <a:solidFill>
              <a:srgbClr val="0D7A61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73936" y="914400"/>
            <a:ext cx="45720" cy="45720"/>
          </a:xfrm>
          <a:prstGeom prst="ellipse">
            <a:avLst/>
          </a:prstGeom>
          <a:solidFill>
            <a:srgbClr val="0D7A61">
              <a:alpha val="50000"/>
            </a:srgbClr>
          </a:solidFill>
          <a:ln w="12700">
            <a:solidFill>
              <a:srgbClr val="0D7A61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23744" y="914400"/>
            <a:ext cx="45720" cy="45720"/>
          </a:xfrm>
          <a:prstGeom prst="ellipse">
            <a:avLst/>
          </a:prstGeom>
          <a:solidFill>
            <a:srgbClr val="0D7A61">
              <a:alpha val="50000"/>
            </a:srgbClr>
          </a:solidFill>
          <a:ln w="12700">
            <a:solidFill>
              <a:srgbClr val="0D7A61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73552" y="914400"/>
            <a:ext cx="45720" cy="45720"/>
          </a:xfrm>
          <a:prstGeom prst="ellipse">
            <a:avLst/>
          </a:prstGeom>
          <a:solidFill>
            <a:srgbClr val="0D7A61">
              <a:alpha val="50000"/>
            </a:srgbClr>
          </a:solidFill>
          <a:ln w="12700">
            <a:solidFill>
              <a:srgbClr val="0D7A61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23360" y="914400"/>
            <a:ext cx="45720" cy="45720"/>
          </a:xfrm>
          <a:prstGeom prst="ellipse">
            <a:avLst/>
          </a:prstGeom>
          <a:solidFill>
            <a:srgbClr val="0D7A61">
              <a:alpha val="50000"/>
            </a:srgbClr>
          </a:solidFill>
          <a:ln w="12700">
            <a:solidFill>
              <a:srgbClr val="0D7A61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73168" y="914400"/>
            <a:ext cx="45720" cy="45720"/>
          </a:xfrm>
          <a:prstGeom prst="ellipse">
            <a:avLst/>
          </a:prstGeom>
          <a:solidFill>
            <a:srgbClr val="0D7A61">
              <a:alpha val="50000"/>
            </a:srgbClr>
          </a:solidFill>
          <a:ln w="12700">
            <a:solidFill>
              <a:srgbClr val="0D7A61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22976" y="914400"/>
            <a:ext cx="45720" cy="45720"/>
          </a:xfrm>
          <a:prstGeom prst="ellipse">
            <a:avLst/>
          </a:prstGeom>
          <a:solidFill>
            <a:srgbClr val="0D7A61">
              <a:alpha val="50000"/>
            </a:srgbClr>
          </a:solidFill>
          <a:ln w="12700">
            <a:solidFill>
              <a:srgbClr val="0D7A61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72784" y="914400"/>
            <a:ext cx="45720" cy="45720"/>
          </a:xfrm>
          <a:prstGeom prst="ellipse">
            <a:avLst/>
          </a:prstGeom>
          <a:solidFill>
            <a:srgbClr val="0D7A61">
              <a:alpha val="50000"/>
            </a:srgbClr>
          </a:solidFill>
          <a:ln w="12700">
            <a:solidFill>
              <a:srgbClr val="0D7A61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22592" y="914400"/>
            <a:ext cx="45720" cy="45720"/>
          </a:xfrm>
          <a:prstGeom prst="ellipse">
            <a:avLst/>
          </a:prstGeom>
          <a:solidFill>
            <a:srgbClr val="0D7A61">
              <a:alpha val="50000"/>
            </a:srgbClr>
          </a:solidFill>
          <a:ln w="12700">
            <a:solidFill>
              <a:srgbClr val="0D7A61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0" y="914400"/>
            <a:ext cx="45720" cy="45720"/>
          </a:xfrm>
          <a:prstGeom prst="ellipse">
            <a:avLst/>
          </a:prstGeom>
          <a:solidFill>
            <a:srgbClr val="0D7A61">
              <a:alpha val="50000"/>
            </a:srgbClr>
          </a:solidFill>
          <a:ln w="12700">
            <a:solidFill>
              <a:srgbClr val="0D7A61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22208" y="914400"/>
            <a:ext cx="45720" cy="45720"/>
          </a:xfrm>
          <a:prstGeom prst="ellipse">
            <a:avLst/>
          </a:prstGeom>
          <a:solidFill>
            <a:srgbClr val="0D7A61">
              <a:alpha val="50000"/>
            </a:srgbClr>
          </a:solidFill>
          <a:ln w="12700">
            <a:solidFill>
              <a:srgbClr val="0D7A61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1554480"/>
            <a:ext cx="45720" cy="45720"/>
          </a:xfrm>
          <a:prstGeom prst="ellipse">
            <a:avLst/>
          </a:prstGeom>
          <a:solidFill>
            <a:srgbClr val="0D7A61">
              <a:alpha val="50000"/>
            </a:srgbClr>
          </a:solidFill>
          <a:ln w="12700">
            <a:solidFill>
              <a:srgbClr val="0D7A61">
                <a:alpha val="5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24128" y="1554480"/>
            <a:ext cx="45720" cy="45720"/>
          </a:xfrm>
          <a:prstGeom prst="ellipse">
            <a:avLst/>
          </a:prstGeom>
          <a:solidFill>
            <a:srgbClr val="0D7A61">
              <a:alpha val="50000"/>
            </a:srgbClr>
          </a:solidFill>
          <a:ln w="12700">
            <a:solidFill>
              <a:srgbClr val="0D7A61">
                <a:alpha val="5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73936" y="1554480"/>
            <a:ext cx="45720" cy="45720"/>
          </a:xfrm>
          <a:prstGeom prst="ellipse">
            <a:avLst/>
          </a:prstGeom>
          <a:solidFill>
            <a:srgbClr val="0D7A61">
              <a:alpha val="50000"/>
            </a:srgbClr>
          </a:solidFill>
          <a:ln w="12700">
            <a:solidFill>
              <a:srgbClr val="0D7A61">
                <a:alpha val="5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23744" y="1554480"/>
            <a:ext cx="45720" cy="45720"/>
          </a:xfrm>
          <a:prstGeom prst="ellipse">
            <a:avLst/>
          </a:prstGeom>
          <a:solidFill>
            <a:srgbClr val="0D7A61">
              <a:alpha val="50000"/>
            </a:srgbClr>
          </a:solidFill>
          <a:ln w="12700">
            <a:solidFill>
              <a:srgbClr val="0D7A61">
                <a:alpha val="5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73552" y="1554480"/>
            <a:ext cx="45720" cy="45720"/>
          </a:xfrm>
          <a:prstGeom prst="ellipse">
            <a:avLst/>
          </a:prstGeom>
          <a:solidFill>
            <a:srgbClr val="0D7A61">
              <a:alpha val="50000"/>
            </a:srgbClr>
          </a:solidFill>
          <a:ln w="12700">
            <a:solidFill>
              <a:srgbClr val="0D7A61">
                <a:alpha val="5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023360" y="1554480"/>
            <a:ext cx="45720" cy="45720"/>
          </a:xfrm>
          <a:prstGeom prst="ellipse">
            <a:avLst/>
          </a:prstGeom>
          <a:solidFill>
            <a:srgbClr val="0D7A61">
              <a:alpha val="50000"/>
            </a:srgbClr>
          </a:solidFill>
          <a:ln w="12700">
            <a:solidFill>
              <a:srgbClr val="0D7A61">
                <a:alpha val="5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73168" y="1554480"/>
            <a:ext cx="45720" cy="45720"/>
          </a:xfrm>
          <a:prstGeom prst="ellipse">
            <a:avLst/>
          </a:prstGeom>
          <a:solidFill>
            <a:srgbClr val="0D7A61">
              <a:alpha val="50000"/>
            </a:srgbClr>
          </a:solidFill>
          <a:ln w="12700">
            <a:solidFill>
              <a:srgbClr val="0D7A61">
                <a:alpha val="5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522976" y="1554480"/>
            <a:ext cx="45720" cy="45720"/>
          </a:xfrm>
          <a:prstGeom prst="ellipse">
            <a:avLst/>
          </a:prstGeom>
          <a:solidFill>
            <a:srgbClr val="0D7A61">
              <a:alpha val="50000"/>
            </a:srgbClr>
          </a:solidFill>
          <a:ln w="12700">
            <a:solidFill>
              <a:srgbClr val="0D7A61">
                <a:alpha val="5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72784" y="1554480"/>
            <a:ext cx="45720" cy="45720"/>
          </a:xfrm>
          <a:prstGeom prst="ellipse">
            <a:avLst/>
          </a:prstGeom>
          <a:solidFill>
            <a:srgbClr val="0D7A61">
              <a:alpha val="50000"/>
            </a:srgbClr>
          </a:solidFill>
          <a:ln w="12700">
            <a:solidFill>
              <a:srgbClr val="0D7A61">
                <a:alpha val="5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22592" y="1554480"/>
            <a:ext cx="45720" cy="45720"/>
          </a:xfrm>
          <a:prstGeom prst="ellipse">
            <a:avLst/>
          </a:prstGeom>
          <a:solidFill>
            <a:srgbClr val="0D7A61">
              <a:alpha val="50000"/>
            </a:srgbClr>
          </a:solidFill>
          <a:ln w="12700">
            <a:solidFill>
              <a:srgbClr val="0D7A61">
                <a:alpha val="5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0" y="1554480"/>
            <a:ext cx="45720" cy="45720"/>
          </a:xfrm>
          <a:prstGeom prst="ellipse">
            <a:avLst/>
          </a:prstGeom>
          <a:solidFill>
            <a:srgbClr val="0D7A61">
              <a:alpha val="50000"/>
            </a:srgbClr>
          </a:solidFill>
          <a:ln w="12700">
            <a:solidFill>
              <a:srgbClr val="0D7A61">
                <a:alpha val="5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522208" y="1554480"/>
            <a:ext cx="45720" cy="45720"/>
          </a:xfrm>
          <a:prstGeom prst="ellipse">
            <a:avLst/>
          </a:prstGeom>
          <a:solidFill>
            <a:srgbClr val="0D7A61">
              <a:alpha val="50000"/>
            </a:srgbClr>
          </a:solidFill>
          <a:ln w="12700">
            <a:solidFill>
              <a:srgbClr val="0D7A61">
                <a:alpha val="5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2194560"/>
            <a:ext cx="45720" cy="45720"/>
          </a:xfrm>
          <a:prstGeom prst="ellipse">
            <a:avLst/>
          </a:prstGeom>
          <a:solidFill>
            <a:srgbClr val="0D7A61">
              <a:alpha val="50000"/>
            </a:srgbClr>
          </a:solidFill>
          <a:ln w="12700">
            <a:solidFill>
              <a:srgbClr val="0D7A61">
                <a:alpha val="5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24128" y="2194560"/>
            <a:ext cx="45720" cy="45720"/>
          </a:xfrm>
          <a:prstGeom prst="ellipse">
            <a:avLst/>
          </a:prstGeom>
          <a:solidFill>
            <a:srgbClr val="0D7A61">
              <a:alpha val="50000"/>
            </a:srgbClr>
          </a:solidFill>
          <a:ln w="12700">
            <a:solidFill>
              <a:srgbClr val="0D7A61">
                <a:alpha val="5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773936" y="2194560"/>
            <a:ext cx="45720" cy="45720"/>
          </a:xfrm>
          <a:prstGeom prst="ellipse">
            <a:avLst/>
          </a:prstGeom>
          <a:solidFill>
            <a:srgbClr val="0D7A61">
              <a:alpha val="50000"/>
            </a:srgbClr>
          </a:solidFill>
          <a:ln w="12700">
            <a:solidFill>
              <a:srgbClr val="0D7A61">
                <a:alpha val="5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523744" y="2194560"/>
            <a:ext cx="45720" cy="45720"/>
          </a:xfrm>
          <a:prstGeom prst="ellipse">
            <a:avLst/>
          </a:prstGeom>
          <a:solidFill>
            <a:srgbClr val="0D7A61">
              <a:alpha val="50000"/>
            </a:srgbClr>
          </a:solidFill>
          <a:ln w="12700">
            <a:solidFill>
              <a:srgbClr val="0D7A61">
                <a:alpha val="5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73552" y="2194560"/>
            <a:ext cx="45720" cy="45720"/>
          </a:xfrm>
          <a:prstGeom prst="ellipse">
            <a:avLst/>
          </a:prstGeom>
          <a:solidFill>
            <a:srgbClr val="0D7A61">
              <a:alpha val="50000"/>
            </a:srgbClr>
          </a:solidFill>
          <a:ln w="12700">
            <a:solidFill>
              <a:srgbClr val="0D7A61">
                <a:alpha val="5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023360" y="2194560"/>
            <a:ext cx="45720" cy="45720"/>
          </a:xfrm>
          <a:prstGeom prst="ellipse">
            <a:avLst/>
          </a:prstGeom>
          <a:solidFill>
            <a:srgbClr val="0D7A61">
              <a:alpha val="50000"/>
            </a:srgbClr>
          </a:solidFill>
          <a:ln w="12700">
            <a:solidFill>
              <a:srgbClr val="0D7A61">
                <a:alpha val="5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73168" y="2194560"/>
            <a:ext cx="45720" cy="45720"/>
          </a:xfrm>
          <a:prstGeom prst="ellipse">
            <a:avLst/>
          </a:prstGeom>
          <a:solidFill>
            <a:srgbClr val="0D7A61">
              <a:alpha val="50000"/>
            </a:srgbClr>
          </a:solidFill>
          <a:ln w="12700">
            <a:solidFill>
              <a:srgbClr val="0D7A61">
                <a:alpha val="5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522976" y="2194560"/>
            <a:ext cx="45720" cy="45720"/>
          </a:xfrm>
          <a:prstGeom prst="ellipse">
            <a:avLst/>
          </a:prstGeom>
          <a:solidFill>
            <a:srgbClr val="0D7A61">
              <a:alpha val="50000"/>
            </a:srgbClr>
          </a:solidFill>
          <a:ln w="12700">
            <a:solidFill>
              <a:srgbClr val="0D7A61">
                <a:alpha val="5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72784" y="2194560"/>
            <a:ext cx="45720" cy="45720"/>
          </a:xfrm>
          <a:prstGeom prst="ellipse">
            <a:avLst/>
          </a:prstGeom>
          <a:solidFill>
            <a:srgbClr val="0D7A61">
              <a:alpha val="50000"/>
            </a:srgbClr>
          </a:solidFill>
          <a:ln w="12700">
            <a:solidFill>
              <a:srgbClr val="0D7A61">
                <a:alpha val="5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022592" y="2194560"/>
            <a:ext cx="45720" cy="45720"/>
          </a:xfrm>
          <a:prstGeom prst="ellipse">
            <a:avLst/>
          </a:prstGeom>
          <a:solidFill>
            <a:srgbClr val="0D7A61">
              <a:alpha val="50000"/>
            </a:srgbClr>
          </a:solidFill>
          <a:ln w="12700">
            <a:solidFill>
              <a:srgbClr val="0D7A61">
                <a:alpha val="5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772400" y="2194560"/>
            <a:ext cx="45720" cy="45720"/>
          </a:xfrm>
          <a:prstGeom prst="ellipse">
            <a:avLst/>
          </a:prstGeom>
          <a:solidFill>
            <a:srgbClr val="0D7A61">
              <a:alpha val="50000"/>
            </a:srgbClr>
          </a:solidFill>
          <a:ln w="12700">
            <a:solidFill>
              <a:srgbClr val="0D7A61">
                <a:alpha val="5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522208" y="2194560"/>
            <a:ext cx="45720" cy="45720"/>
          </a:xfrm>
          <a:prstGeom prst="ellipse">
            <a:avLst/>
          </a:prstGeom>
          <a:solidFill>
            <a:srgbClr val="0D7A61">
              <a:alpha val="50000"/>
            </a:srgbClr>
          </a:solidFill>
          <a:ln w="12700">
            <a:solidFill>
              <a:srgbClr val="0D7A61">
                <a:alpha val="5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6400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SWARMCLAUSE</a:t>
            </a:r>
            <a:endParaRPr lang="en-US" sz="5800" dirty="0"/>
          </a:p>
        </p:txBody>
      </p:sp>
      <p:sp>
        <p:nvSpPr>
          <p:cNvPr id="52" name="Text 50"/>
          <p:cNvSpPr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contract layer for the Agentic Society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1005840" y="2468880"/>
            <a:ext cx="1920240" cy="1188720"/>
          </a:xfrm>
          <a:prstGeom prst="rect">
            <a:avLst/>
          </a:prstGeom>
          <a:solidFill>
            <a:srgbClr val="112240"/>
          </a:solidFill>
          <a:ln w="12700">
            <a:solidFill>
              <a:srgbClr val="00A88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1051560" y="2560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55" name="Text 53"/>
          <p:cNvSpPr/>
          <p:nvPr/>
        </p:nvSpPr>
        <p:spPr>
          <a:xfrm>
            <a:off x="1051560" y="31821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Hedera Services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611880" y="2468880"/>
            <a:ext cx="1920240" cy="1188720"/>
          </a:xfrm>
          <a:prstGeom prst="rect">
            <a:avLst/>
          </a:prstGeom>
          <a:solidFill>
            <a:srgbClr val="112240"/>
          </a:solidFill>
          <a:ln w="12700">
            <a:solidFill>
              <a:srgbClr val="00A88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3657600" y="2560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58" name="Text 56"/>
          <p:cNvSpPr/>
          <p:nvPr/>
        </p:nvSpPr>
        <p:spPr>
          <a:xfrm>
            <a:off x="3657600" y="31821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Features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217920" y="2468880"/>
            <a:ext cx="1920240" cy="1188720"/>
          </a:xfrm>
          <a:prstGeom prst="rect">
            <a:avLst/>
          </a:prstGeom>
          <a:solidFill>
            <a:srgbClr val="112240"/>
          </a:solidFill>
          <a:ln w="12700">
            <a:solidFill>
              <a:srgbClr val="00A88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6263640" y="2560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200" dirty="0"/>
          </a:p>
        </p:txBody>
      </p:sp>
      <p:sp>
        <p:nvSpPr>
          <p:cNvPr id="61" name="Text 59"/>
          <p:cNvSpPr/>
          <p:nvPr/>
        </p:nvSpPr>
        <p:spPr>
          <a:xfrm>
            <a:off x="6263640" y="31821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Triggers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Contracts · Settled on Hedera · Observed in Real-Time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3200400" y="2176272"/>
            <a:ext cx="27432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SWARMCLAUSE</dc:title>
  <dc:subject>PptxGenJS Presentation</dc:subject>
  <dc:creator>SWARMCLAUSE Team</dc:creator>
  <cp:lastModifiedBy>SWARMCLAUSE Team</cp:lastModifiedBy>
  <cp:revision>1</cp:revision>
  <dcterms:created xsi:type="dcterms:W3CDTF">2026-02-23T16:52:20Z</dcterms:created>
  <dcterms:modified xsi:type="dcterms:W3CDTF">2026-02-23T16:52:20Z</dcterms:modified>
</cp:coreProperties>
</file>